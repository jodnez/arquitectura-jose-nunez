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B2A41"/>
                </a:solidFill>
              </a:defRPr>
            </a:pPr>
            <a:r>
              <a:t>Simulador de Datos Sísmicos (SEG-Y)</a:t>
            </a:r>
          </a:p>
          <a:p>
            <a:pPr>
              <a:spcBef>
                <a:spcPts val="1000"/>
              </a:spcBef>
              <a:defRPr sz="2600">
                <a:solidFill>
                  <a:srgbClr val="2E86AB"/>
                </a:solidFill>
              </a:defRPr>
            </a:pPr>
            <a:r>
              <a:t>Cómo funciona el proyecto</a:t>
            </a:r>
          </a:p>
          <a:p>
            <a:pPr>
              <a:spcBef>
                <a:spcPts val="1400"/>
              </a:spcBef>
              <a:defRPr sz="1800">
                <a:solidFill>
                  <a:srgbClr val="555F6E"/>
                </a:solidFill>
              </a:defRPr>
            </a:pPr>
            <a:r>
              <a:t>Benchmark en C++ de estructuras de datos para grandes volúmenes de trazas sísmicas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1"/>
                </a:solidFill>
              </a:defRPr>
            </a:pPr>
            <a:r>
              <a:t>¿Qué hace este proyecto?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463040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B2A41"/>
                </a:solidFill>
              </a:defRPr>
            </a:pPr>
            <a:r>
              <a:t>• Genera un dataset sísmico sintético en formato SEG-Y (onda Ricker).</a:t>
            </a:r>
          </a:p>
          <a:p>
            <a:pPr>
              <a:spcAft>
                <a:spcPts val="800"/>
              </a:spcAft>
              <a:defRPr sz="2200">
                <a:solidFill>
                  <a:srgbClr val="1B2A41"/>
                </a:solidFill>
              </a:defRPr>
            </a:pPr>
            <a:r>
              <a:t>• Lee el archivo traza por traza mediante un parser SEG-Y propio.</a:t>
            </a:r>
          </a:p>
          <a:p>
            <a:pPr>
              <a:spcAft>
                <a:spcPts val="800"/>
              </a:spcAft>
              <a:defRPr sz="2200">
                <a:solidFill>
                  <a:srgbClr val="1B2A41"/>
                </a:solidFill>
              </a:defRPr>
            </a:pPr>
            <a:r>
              <a:t>• Almacena las trazas en distintas estructuras de datos (backends).</a:t>
            </a:r>
          </a:p>
          <a:p>
            <a:pPr>
              <a:spcAft>
                <a:spcPts val="800"/>
              </a:spcAft>
              <a:defRPr sz="2200">
                <a:solidFill>
                  <a:srgbClr val="1B2A41"/>
                </a:solidFill>
              </a:defRPr>
            </a:pPr>
            <a:r>
              <a:t>• Indexa cada traza por coordenadas (inline, crossline).</a:t>
            </a:r>
          </a:p>
          <a:p>
            <a:pPr>
              <a:spcAft>
                <a:spcPts val="800"/>
              </a:spcAft>
              <a:defRPr sz="2200">
                <a:solidFill>
                  <a:srgbClr val="1B2A41"/>
                </a:solidFill>
              </a:defRPr>
            </a:pPr>
            <a:r>
              <a:t>• Simula una caché LRU con prefetching y mide su efectividad.</a:t>
            </a:r>
          </a:p>
          <a:p>
            <a:pPr>
              <a:spcAft>
                <a:spcPts val="800"/>
              </a:spcAft>
              <a:defRPr sz="2200">
                <a:solidFill>
                  <a:srgbClr val="1B2A41"/>
                </a:solidFill>
              </a:defRPr>
            </a:pPr>
            <a:r>
              <a:t>• Mide tiempos, uso de memoria y tasa de aciertos (hit ratio).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1"/>
                </a:solidFill>
              </a:defRPr>
            </a:pPr>
            <a:r>
              <a:t>Flujo general del programa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463040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2148840" cy="265176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1900" b="1">
                <a:solidFill>
                  <a:srgbClr val="2E86AB"/>
                </a:solidFill>
              </a:defRPr>
            </a:pPr>
            <a:r>
              <a:t>1. Generar</a:t>
            </a:r>
          </a:p>
          <a:p>
            <a:pPr>
              <a:spcBef>
                <a:spcPts val="400"/>
              </a:spcBef>
              <a:defRPr sz="1400">
                <a:solidFill>
                  <a:srgbClr val="1B2A41"/>
                </a:solidFill>
              </a:defRPr>
            </a:pPr>
            <a:r>
              <a:t>Crea un SEG-Y sintético con onda Ricker (writeSynthetic).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807208" y="1737360"/>
            <a:ext cx="2148840" cy="265176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1900" b="1">
                <a:solidFill>
                  <a:srgbClr val="2E86AB"/>
                </a:solidFill>
              </a:defRPr>
            </a:pPr>
            <a:r>
              <a:t>2. Parsear</a:t>
            </a:r>
          </a:p>
          <a:p>
            <a:pPr>
              <a:spcBef>
                <a:spcPts val="400"/>
              </a:spcBef>
              <a:defRPr sz="1400">
                <a:solidFill>
                  <a:srgbClr val="1B2A41"/>
                </a:solidFill>
              </a:defRPr>
            </a:pPr>
            <a:r>
              <a:t>SEGYParser recorre el archivo y extrae cabecera + muestras de cada traza.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11496" y="1737360"/>
            <a:ext cx="2148840" cy="265176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1900" b="1">
                <a:solidFill>
                  <a:srgbClr val="2E86AB"/>
                </a:solidFill>
              </a:defRPr>
            </a:pPr>
            <a:r>
              <a:t>3. Guardar</a:t>
            </a:r>
          </a:p>
          <a:p>
            <a:pPr>
              <a:spcBef>
                <a:spcPts val="400"/>
              </a:spcBef>
              <a:defRPr sz="1400">
                <a:solidFill>
                  <a:srgbClr val="1B2A41"/>
                </a:solidFill>
              </a:defRPr>
            </a:pPr>
            <a:r>
              <a:t>StorageBackend almacena las trazas en memoria (o disco).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15783" y="1737360"/>
            <a:ext cx="2148840" cy="265176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1900" b="1">
                <a:solidFill>
                  <a:srgbClr val="2E86AB"/>
                </a:solidFill>
              </a:defRPr>
            </a:pPr>
            <a:r>
              <a:t>4. Indexar</a:t>
            </a:r>
          </a:p>
          <a:p>
            <a:pPr>
              <a:spcBef>
                <a:spcPts val="400"/>
              </a:spcBef>
              <a:defRPr sz="1400">
                <a:solidFill>
                  <a:srgbClr val="1B2A41"/>
                </a:solidFill>
              </a:defRPr>
            </a:pPr>
            <a:r>
              <a:t>TraceIndex mapea (inline, crossline) → posición en el backend.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072" y="1737360"/>
            <a:ext cx="2148840" cy="265176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1900" b="1">
                <a:solidFill>
                  <a:srgbClr val="2E86AB"/>
                </a:solidFill>
              </a:defRPr>
            </a:pPr>
            <a:r>
              <a:t>5. Medir</a:t>
            </a:r>
          </a:p>
          <a:p>
            <a:pPr>
              <a:spcBef>
                <a:spcPts val="400"/>
              </a:spcBef>
              <a:defRPr sz="1400">
                <a:solidFill>
                  <a:srgbClr val="1B2A41"/>
                </a:solidFill>
              </a:defRPr>
            </a:pPr>
            <a:r>
              <a:t>main.cpp ejecuta patrones de acceso y cronometra resultados.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7752" y="2880360"/>
            <a:ext cx="320040" cy="274320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880360"/>
            <a:ext cx="320040" cy="274320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196327" y="2880360"/>
            <a:ext cx="320040" cy="274320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500615" y="2880360"/>
            <a:ext cx="320040" cy="274320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5F6E"/>
                </a:solidFill>
              </a:defRPr>
            </a:pPr>
            <a:r>
              <a:t>Todo se ejecuta desde main.cpp, que orquesta el benchmark de punta a punta.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1"/>
                </a:solidFill>
              </a:defRPr>
            </a:pPr>
            <a:r>
              <a:t>Componentes clave (1): Entrada y almacenamiento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463040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329184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SEGYParser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Entiende el estándar SEG-Y: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3200 B de cabecera textual + 400 B binaria.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Cada traza: 240 B de cabecera + muestras.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Soporta formatos IBM float, int e IEEE float.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Lee con callbacks: no carga todo de golpe.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303520" cy="329184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StorageBackend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Interfaz común para guardar trazas: append / load.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VectorStorage: contiguo, acceso O(1), pero reallocation.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DequeStorage: crece estable, peor localidad de caché.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STXXLVectorStorage: muestras en disco, solo metadatos en 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5F6E"/>
                </a:solidFill>
              </a:defRPr>
            </a:pPr>
            <a:r>
              <a:t>Gracias a la interfaz, el benchmark intercambia backends sin cambiar el código.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1"/>
                </a:solidFill>
              </a:defRPr>
            </a:pPr>
            <a:r>
              <a:t>Componentes clave (2): Índice y caché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463040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329184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TraceIndex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Mapea (inline, crossline) → posición en el backend.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StdMapIndex: árbol rojo-negro, O(log n), muchos punteros.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BoostFlatMapIndex: vector ordenado + búsqueda binaria (muy rápido).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BoostBTreeMapIndex: árbol B de páginas, equilibrio memoria/velocidad.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303520" cy="3291840"/>
          </a:xfrm>
          <a:prstGeom prst="rect">
            <a:avLst/>
          </a:prstGeom>
          <a:solidFill>
            <a:srgbClr val="F2F6FA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91440"/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Prefetcher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Caché LRU con capacidad limitada.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Al acceder a la traza i, carga de antemano las vecinas (i+1, i+2…).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Cuenta hits, misses y prefetches.</a:t>
            </a:r>
          </a:p>
          <a:p>
            <a:pPr>
              <a:spcBef>
                <a:spcPts val="400"/>
              </a:spcBef>
              <a:defRPr sz="1500">
                <a:solidFill>
                  <a:srgbClr val="1B2A41"/>
                </a:solidFill>
              </a:defRPr>
            </a:pPr>
            <a:r>
              <a:t>Objetivo: que la siguiente lectura sea un hit y se solape con el cálculo.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5F6E"/>
                </a:solidFill>
              </a:defRPr>
            </a:pPr>
            <a:r>
              <a:t>La caché modela el comportamiento real: los intérpretes saltan entre trazas contiguas.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1"/>
                </a:solidFill>
              </a:defRPr>
            </a:pPr>
            <a:r>
              <a:t>¿Qué mide el benchmark?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463040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2A41"/>
                </a:solidFill>
              </a:defRPr>
            </a:pPr>
            <a:r>
              <a:t>• Cuatro patrones de acceso a las trazas:</a:t>
            </a:r>
          </a:p>
          <a:p>
            <a:pPr lvl="1">
              <a:spcAft>
                <a:spcPts val="800"/>
              </a:spcAft>
              <a:defRPr sz="1800">
                <a:solidFill>
                  <a:srgbClr val="555F6E"/>
                </a:solidFill>
              </a:defRPr>
            </a:pPr>
            <a:r>
              <a:t>– Secuencial: acceso ideal, todo debería ser hit con prefetch.</a:t>
            </a:r>
          </a:p>
          <a:p>
            <a:pPr lvl="1">
              <a:spcAft>
                <a:spcPts val="800"/>
              </a:spcAft>
              <a:defRPr sz="1800">
                <a:solidFill>
                  <a:srgbClr val="555F6E"/>
                </a:solidFill>
              </a:defRPr>
            </a:pPr>
            <a:r>
              <a:t>– Inverso: el prefetch hacia adelante no ayuda (contraste).</a:t>
            </a:r>
          </a:p>
          <a:p>
            <a:pPr lvl="1">
              <a:spcAft>
                <a:spcPts val="800"/>
              </a:spcAft>
              <a:defRPr sz="1800">
                <a:solidFill>
                  <a:srgbClr val="555F6E"/>
                </a:solidFill>
              </a:defRPr>
            </a:pPr>
            <a:r>
              <a:t>– Aleatorio: peor caso, ningún patrón predecible.</a:t>
            </a:r>
          </a:p>
          <a:p>
            <a:pPr lvl="1">
              <a:spcAft>
                <a:spcPts val="800"/>
              </a:spcAft>
              <a:defRPr sz="1800">
                <a:solidFill>
                  <a:srgbClr val="555F6E"/>
                </a:solidFill>
              </a:defRPr>
            </a:pPr>
            <a:r>
              <a:t>– Con salto (stride=7): típico de barridos multidimensionales.</a:t>
            </a:r>
          </a:p>
          <a:p>
            <a:pPr>
              <a:spcAft>
                <a:spcPts val="800"/>
              </a:spcAft>
              <a:defRPr sz="2000">
                <a:solidFill>
                  <a:srgbClr val="1B2A41"/>
                </a:solidFill>
              </a:defRPr>
            </a:pPr>
            <a:r>
              <a:t>• Con y sin prefetch, variando capacidad de caché y profundidad.</a:t>
            </a:r>
          </a:p>
          <a:p>
            <a:pPr>
              <a:spcAft>
                <a:spcPts val="800"/>
              </a:spcAft>
              <a:defRPr sz="2000">
                <a:solidFill>
                  <a:srgbClr val="1B2A41"/>
                </a:solidFill>
              </a:defRPr>
            </a:pPr>
            <a:r>
              <a:t>• Mide: tiempo total, nº de cargas al backend, memoria ocupada y hit ratio.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1"/>
                </a:solidFill>
              </a:defRPr>
            </a:pPr>
            <a:r>
              <a:t>Idea central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463040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1"/>
                </a:solidFill>
              </a:defRPr>
            </a:pPr>
            <a:r>
              <a:t>Explorar qué estructuras de datos funcionan mejor cuando los volúmenes sísmicos no caben cómodamente en RAM.</a:t>
            </a:r>
          </a:p>
          <a:p>
            <a:pPr>
              <a:spcBef>
                <a:spcPts val="1400"/>
              </a:spcBef>
              <a:defRPr sz="2100">
                <a:solidFill>
                  <a:srgbClr val="555F6E"/>
                </a:solidFill>
              </a:defRPr>
            </a:pPr>
            <a:r>
              <a:t>Comparando velocidad, memoria y efectividad de caché/prefetch de forma medible y reproducible.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1"/>
                </a:solidFill>
              </a:defRPr>
            </a:pPr>
            <a:r>
              <a:t>Resumen en una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463040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1"/>
                </a:solidFill>
              </a:defRPr>
            </a:pPr>
            <a:r>
              <a:t>Un pipeline SEG-Y completo en C++ que genera, parsea, almacena, indexa y benchmarka trazas sísmicas para evaluar qué estructura de datos es la óptima según el patrón de acceso.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